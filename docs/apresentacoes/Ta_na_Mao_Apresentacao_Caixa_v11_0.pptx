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1806" y="1227534"/>
            <a:ext cx="3100239" cy="293340"/>
          </a:xfrm>
          <a:prstGeom prst="roundRect">
            <a:avLst>
              <a:gd name="adj" fmla="val 3243838"/>
            </a:avLst>
          </a:prstGeom>
          <a:solidFill>
            <a:srgbClr val="C8E615">
              <a:alpha val="15000"/>
            </a:srgbClr>
          </a:solidFill>
          <a:ln w="9525">
            <a:solidFill>
              <a:srgbClr val="C8E61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94829" y="1294209"/>
            <a:ext cx="2754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 na Mão: de direito previsto em lei a direito na mão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526825" y="1673275"/>
            <a:ext cx="209035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 na Mão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2578804" y="2244775"/>
            <a:ext cx="3986391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7"/>
              </a:lnSpc>
              <a:buNone/>
            </a:pPr>
            <a:r>
              <a:rPr lang="en-US" sz="195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 Milha de Direitos Públicos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975988" y="2786509"/>
            <a:ext cx="51920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900"/>
              </a:spcBef>
              <a:buNone/>
            </a:pPr>
            <a:r>
              <a:rPr lang="en-US" sz="11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 digital que transforma direitos previstos em lei em direitos na mão.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372593" y="3215134"/>
            <a:ext cx="23986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Piloto via CPSI / Espaço TEIA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504965" y="3769370"/>
            <a:ext cx="21340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800"/>
              </a:spcBef>
              <a:buNone/>
            </a:pPr>
            <a:r>
              <a:rPr lang="en-US" sz="825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GOVERNO FEDERAL  |  CAIXA  |  TÁ NA MÃO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3850" y="228600"/>
            <a:ext cx="0" cy="510480"/>
          </a:xfrm>
          <a:prstGeom prst="line">
            <a:avLst/>
          </a:prstGeom>
          <a:noFill/>
          <a:ln w="38100">
            <a:solidFill>
              <a:srgbClr val="C8E6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2470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gargalo não é a verba. É a execução na ponta.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55245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Brasil criou os programas. Garantiu os recursos. Mas o direito não chega.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4800" y="1692771"/>
            <a:ext cx="4885730" cy="1123652"/>
          </a:xfrm>
          <a:prstGeom prst="roundRect">
            <a:avLst>
              <a:gd name="adj" fmla="val 6781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19088" y="1692771"/>
            <a:ext cx="0" cy="1123652"/>
          </a:xfrm>
          <a:prstGeom prst="line">
            <a:avLst/>
          </a:prstGeom>
          <a:noFill/>
          <a:ln w="28575">
            <a:solidFill>
              <a:srgbClr val="C8E6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775" y="1845171"/>
            <a:ext cx="46434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5775" y="2062311"/>
            <a:ext cx="464340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i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"Imagine se o iFood existisse, os restaurantes estivessem abertos, a comida pronta... mas a última milha fosse complexa demais."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85775" y="2504033"/>
            <a:ext cx="46434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750"/>
              </a:spcBef>
              <a:buNone/>
            </a:pPr>
            <a:r>
              <a:rPr lang="en-US" sz="90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isso que acontece com R$ 50 bi em benefícios públicos.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4800" y="2949773"/>
            <a:ext cx="49834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acontece na prática: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04800" y="3199209"/>
            <a:ext cx="4885730" cy="11430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cidadão precisa agir como seu próprio despachante digital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Navegar dezenas de apps, senhas, sites e órgãos diferentes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Decifrar regras federais, estaduais e municipais ao mesmo tempo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19130" y="2621310"/>
            <a:ext cx="3420070" cy="792361"/>
          </a:xfrm>
          <a:prstGeom prst="roundRect">
            <a:avLst>
              <a:gd name="adj" fmla="val 12021"/>
            </a:avLst>
          </a:prstGeom>
          <a:solidFill>
            <a:srgbClr val="C8E615">
              <a:alpha val="10000"/>
            </a:srgbClr>
          </a:solidFill>
          <a:ln w="19050">
            <a:solidFill>
              <a:srgbClr val="C8E61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98670" y="2830860"/>
            <a:ext cx="306099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falta não é política pública — é </a:t>
            </a:r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 de execução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 ponta.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28600"/>
            <a:ext cx="46245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Vazamento Social: Quem Tem Direito, Não Acessa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60189" y="2280345"/>
            <a:ext cx="2119610" cy="1192411"/>
          </a:xfrm>
          <a:prstGeom prst="roundRect">
            <a:avLst>
              <a:gd name="adj" fmla="val 9586"/>
            </a:avLst>
          </a:prstGeom>
          <a:solidFill>
            <a:srgbClr val="C8E6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2165" y="2470845"/>
            <a:ext cx="169565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A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2165" y="3167955"/>
            <a:ext cx="16956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1A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Não-adesão em programas específicos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125688" y="1954709"/>
            <a:ext cx="5751612" cy="563761"/>
          </a:xfrm>
          <a:prstGeom prst="roundRect">
            <a:avLst>
              <a:gd name="adj" fmla="val 10137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39988" y="2069009"/>
            <a:ext cx="56334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Farmácia Popular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239988" y="2270820"/>
            <a:ext cx="56334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Milhões com doenças crônicas têm direito. Penetração muito abaixo do potencial.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125688" y="2594670"/>
            <a:ext cx="5751612" cy="563761"/>
          </a:xfrm>
          <a:prstGeom prst="roundRect">
            <a:avLst>
              <a:gd name="adj" fmla="val 10137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39988" y="2708970"/>
            <a:ext cx="56334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Dignidade Menstrual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239988" y="2910780"/>
            <a:ext cx="56334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 estimado ~24 mi; aproximadamente 8% acessa.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125688" y="3234630"/>
            <a:ext cx="5751612" cy="563761"/>
          </a:xfrm>
          <a:prstGeom prst="roundRect">
            <a:avLst>
              <a:gd name="adj" fmla="val 10137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39988" y="3348930"/>
            <a:ext cx="56334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Tarifa Social (TSEE)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239988" y="3550741"/>
            <a:ext cx="56334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C8E615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7,7 milhões de famílias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têm direito mas não recebem.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66700"/>
            <a:ext cx="44011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Saque Extraordinário ao Tá na Mão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66700" y="495300"/>
            <a:ext cx="87828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Saque Extraordinário do FGTS em 2022 liberou R$ 23,6 bi. Os programas abaixo somam ~R$ 50 bi esperando chegar na ponta.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232410" y="1958280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PIS/PASEP (Cotas 1971-1988)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2095500" y="1879253"/>
            <a:ext cx="6781800" cy="304800"/>
          </a:xfrm>
          <a:prstGeom prst="roundRect">
            <a:avLst>
              <a:gd name="adj" fmla="val 12500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95500" y="1879253"/>
            <a:ext cx="5425380" cy="304800"/>
          </a:xfrm>
          <a:prstGeom prst="roundRect">
            <a:avLst>
              <a:gd name="adj" fmla="val 12500"/>
            </a:avLst>
          </a:prstGeom>
          <a:solidFill>
            <a:srgbClr val="C8E6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52330" y="1951583"/>
            <a:ext cx="9299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~R$ 26,0 Bilhões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2410" y="2358330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a Receber (SVR/BCB)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2095500" y="2279303"/>
            <a:ext cx="6781800" cy="304800"/>
          </a:xfrm>
          <a:prstGeom prst="roundRect">
            <a:avLst>
              <a:gd name="adj" fmla="val 12500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95500" y="2279303"/>
            <a:ext cx="2170063" cy="304800"/>
          </a:xfrm>
          <a:prstGeom prst="roundRect">
            <a:avLst>
              <a:gd name="adj" fmla="val 12500"/>
            </a:avLst>
          </a:prstGeom>
          <a:solidFill>
            <a:srgbClr val="C8E6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905720" y="2351633"/>
            <a:ext cx="5606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~R$ 8,7 Bi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2410" y="2758380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TSEE + Farmácia Popular + Outros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2095500" y="2679353"/>
            <a:ext cx="6781800" cy="304800"/>
          </a:xfrm>
          <a:prstGeom prst="roundRect">
            <a:avLst>
              <a:gd name="adj" fmla="val 12500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95500" y="2679353"/>
            <a:ext cx="3255169" cy="304800"/>
          </a:xfrm>
          <a:prstGeom prst="roundRect">
            <a:avLst>
              <a:gd name="adj" fmla="val 12500"/>
            </a:avLst>
          </a:prstGeom>
          <a:solidFill>
            <a:srgbClr val="C8E6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16498" y="2751683"/>
            <a:ext cx="62543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~R$ 15,3 Bi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2410" y="3256508"/>
            <a:ext cx="17487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ESTIMADO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95500" y="3155603"/>
            <a:ext cx="6781800" cy="361950"/>
          </a:xfrm>
          <a:prstGeom prst="roundRect">
            <a:avLst>
              <a:gd name="adj" fmla="val 10526"/>
            </a:avLst>
          </a:prstGeom>
          <a:solidFill>
            <a:srgbClr val="C8E615">
              <a:alpha val="15000"/>
            </a:srgbClr>
          </a:solidFill>
          <a:ln w="19050">
            <a:solidFill>
              <a:srgbClr val="C8E61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4121" y="3216622"/>
            <a:ext cx="124904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~R$ 50 Bilhões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80594" y="4754910"/>
            <a:ext cx="87828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Transformar recursos já autorizados em renda e dignidade na ponta.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66700"/>
            <a:ext cx="44011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 na Mão: Execução de Direitos via WhatsApp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66700" y="495300"/>
            <a:ext cx="87828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 não basta. Executamos a jornada para que o direito seja ativado.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6700" y="2286000"/>
            <a:ext cx="3789015" cy="819150"/>
          </a:xfrm>
          <a:prstGeom prst="roundRect">
            <a:avLst>
              <a:gd name="adj" fmla="val 11628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9100" y="2438400"/>
            <a:ext cx="35539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partir de poucos dados, descobrimos a quais benefícios o cidadão já tem direito. Um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8E615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Normativo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orquestra a burocracia até que o direito esteja na mão."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66700" y="3219450"/>
            <a:ext cx="3789015" cy="426690"/>
          </a:xfrm>
          <a:prstGeom prst="roundRect">
            <a:avLst>
              <a:gd name="adj" fmla="val 17858"/>
            </a:avLst>
          </a:prstGeom>
          <a:solidFill>
            <a:srgbClr val="C8E615">
              <a:alpha val="15000"/>
            </a:srgbClr>
          </a:solidFill>
          <a:ln w="19050">
            <a:solidFill>
              <a:srgbClr val="C8E61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4827" y="3352800"/>
            <a:ext cx="35927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Ouro: Cidadão nunca paga pelo benefício público.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46215" y="2016472"/>
            <a:ext cx="47237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Comparativo: Canais Atuais vs. Tá na Mão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246215" y="2258318"/>
            <a:ext cx="2287042" cy="285750"/>
          </a:xfrm>
          <a:prstGeom prst="roundRect">
            <a:avLst>
              <a:gd name="adj" fmla="val 13333"/>
            </a:avLst>
          </a:prstGeom>
          <a:solidFill>
            <a:srgbClr val="3A4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01069" y="2334518"/>
            <a:ext cx="21773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Canais atuais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590407" y="2258318"/>
            <a:ext cx="2287042" cy="285750"/>
          </a:xfrm>
          <a:prstGeom prst="roundRect">
            <a:avLst>
              <a:gd name="adj" fmla="val 13333"/>
            </a:avLst>
          </a:prstGeom>
          <a:solidFill>
            <a:srgbClr val="C8E6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45261" y="2334518"/>
            <a:ext cx="21773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 na Mão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246215" y="2601218"/>
            <a:ext cx="2287042" cy="285750"/>
          </a:xfrm>
          <a:prstGeom prst="roundRect">
            <a:avLst>
              <a:gd name="adj" fmla="val 10000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01069" y="2677418"/>
            <a:ext cx="21773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Autoatendimento digital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590407" y="2601218"/>
            <a:ext cx="2287042" cy="285750"/>
          </a:xfrm>
          <a:prstGeom prst="roundRect">
            <a:avLst>
              <a:gd name="adj" fmla="val 10000"/>
            </a:avLst>
          </a:prstGeom>
          <a:solidFill>
            <a:srgbClr val="C8E615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45261" y="2677418"/>
            <a:ext cx="21773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assistida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246215" y="2944118"/>
            <a:ext cx="2287042" cy="285750"/>
          </a:xfrm>
          <a:prstGeom prst="roundRect">
            <a:avLst>
              <a:gd name="adj" fmla="val 10000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01069" y="3020318"/>
            <a:ext cx="21773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Cidadão navega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590407" y="2944118"/>
            <a:ext cx="2287042" cy="285750"/>
          </a:xfrm>
          <a:prstGeom prst="roundRect">
            <a:avLst>
              <a:gd name="adj" fmla="val 10000"/>
            </a:avLst>
          </a:prstGeom>
          <a:solidFill>
            <a:srgbClr val="C8E615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45261" y="3020318"/>
            <a:ext cx="21773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Direito é ativado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246215" y="3287018"/>
            <a:ext cx="2287042" cy="285750"/>
          </a:xfrm>
          <a:prstGeom prst="roundRect">
            <a:avLst>
              <a:gd name="adj" fmla="val 10000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301069" y="3363218"/>
            <a:ext cx="21773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 disponível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590407" y="3287018"/>
            <a:ext cx="2287042" cy="285750"/>
          </a:xfrm>
          <a:prstGeom prst="roundRect">
            <a:avLst>
              <a:gd name="adj" fmla="val 10000"/>
            </a:avLst>
          </a:prstGeom>
          <a:solidFill>
            <a:srgbClr val="C8E615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45261" y="3363218"/>
            <a:ext cx="21773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executada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246215" y="3629918"/>
            <a:ext cx="2287042" cy="285750"/>
          </a:xfrm>
          <a:prstGeom prst="roundRect">
            <a:avLst>
              <a:gd name="adj" fmla="val 10000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01069" y="3706118"/>
            <a:ext cx="21773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Transação isolada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590407" y="3629918"/>
            <a:ext cx="2287042" cy="285750"/>
          </a:xfrm>
          <a:prstGeom prst="roundRect">
            <a:avLst>
              <a:gd name="adj" fmla="val 10000"/>
            </a:avLst>
          </a:prstGeom>
          <a:solidFill>
            <a:srgbClr val="C8E615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645261" y="3706118"/>
            <a:ext cx="21773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360° da família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66700"/>
            <a:ext cx="54018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Normativo: Inteligência de Elegibilidade e Execução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66700" y="495300"/>
            <a:ext cx="87828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Interpretação de regras + orquestração de jornadas, com automação onde possível e validação humana onde necessário.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266700" y="1524595"/>
            <a:ext cx="4248150" cy="790277"/>
          </a:xfrm>
          <a:prstGeom prst="roundRect">
            <a:avLst>
              <a:gd name="adj" fmla="val 9642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1657945"/>
            <a:ext cx="406107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Elegibilidade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00050" y="1888331"/>
            <a:ext cx="406107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 perfil do cidadão/família com catálogo vivo de benefícios (União + Estados + Municípios). É execução assistida.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629150" y="1524595"/>
            <a:ext cx="4248150" cy="790277"/>
          </a:xfrm>
          <a:prstGeom prst="roundRect">
            <a:avLst>
              <a:gd name="adj" fmla="val 9642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62500" y="1657945"/>
            <a:ext cx="406107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Orquestração Multi-Sistemas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62500" y="1888331"/>
            <a:ext cx="406107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Orquestra a jornada com integrações em CadÚnico, Gov.br e sistemas setoriais, com suporte humano em etapas críticas.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66700" y="3604022"/>
            <a:ext cx="4248150" cy="790277"/>
          </a:xfrm>
          <a:prstGeom prst="roundRect">
            <a:avLst>
              <a:gd name="adj" fmla="val 9642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0050" y="3737372"/>
            <a:ext cx="406107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 de Direitos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00050" y="3967758"/>
            <a:ext cx="406107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360° persistente por família, não por transação isolada. Histórico completo de benefícios ativados.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629150" y="3604022"/>
            <a:ext cx="4248150" cy="790277"/>
          </a:xfrm>
          <a:prstGeom prst="roundRect">
            <a:avLst>
              <a:gd name="adj" fmla="val 9642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62500" y="3737372"/>
            <a:ext cx="406107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Atualização Contínua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762500" y="3967758"/>
            <a:ext cx="406107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as regras mudam (nova lei, decreto, portaria), o motor é atualizado continuamente. Catálogo vivo.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66700"/>
            <a:ext cx="44011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Jornada: Do Pedido à Ativação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66700" y="495300"/>
            <a:ext cx="87828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etapas com consentimento e rastreabilidade em cada passo.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266700" y="2267992"/>
            <a:ext cx="1371600" cy="938957"/>
          </a:xfrm>
          <a:prstGeom prst="roundRect">
            <a:avLst>
              <a:gd name="adj" fmla="val 8115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382292"/>
            <a:ext cx="116586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2660303"/>
            <a:ext cx="11658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81000" y="2844998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Cidadão inicia via WhatsApp (CPF + CEP)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714500" y="2267992"/>
            <a:ext cx="1371600" cy="938957"/>
          </a:xfrm>
          <a:prstGeom prst="roundRect">
            <a:avLst>
              <a:gd name="adj" fmla="val 8115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28800" y="2382292"/>
            <a:ext cx="116586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828800" y="2660303"/>
            <a:ext cx="11658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Confirmação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828800" y="2844998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Consentimento LGPD explícito e transparente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162300" y="2267992"/>
            <a:ext cx="1371600" cy="938957"/>
          </a:xfrm>
          <a:prstGeom prst="roundRect">
            <a:avLst>
              <a:gd name="adj" fmla="val 8115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76600" y="2382292"/>
            <a:ext cx="116586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276600" y="2660303"/>
            <a:ext cx="11658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Preparo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276600" y="2844998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cruza perfil com catálogo de benefícios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10100" y="2206079"/>
            <a:ext cx="1371600" cy="1062782"/>
          </a:xfrm>
          <a:prstGeom prst="roundRect">
            <a:avLst>
              <a:gd name="adj" fmla="val 7170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24400" y="2320379"/>
            <a:ext cx="116586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24400" y="2598390"/>
            <a:ext cx="11658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724400" y="2783086"/>
            <a:ext cx="116586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Orquestração da jornada com integrações e fluxos oficiais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057900" y="2206079"/>
            <a:ext cx="1371600" cy="1062782"/>
          </a:xfrm>
          <a:prstGeom prst="roundRect">
            <a:avLst>
              <a:gd name="adj" fmla="val 7170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72200" y="2320379"/>
            <a:ext cx="116586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172200" y="2598390"/>
            <a:ext cx="11658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Ativado!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172200" y="2783086"/>
            <a:ext cx="116586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Cidadão recebe comprovante do direito ativado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505700" y="2267992"/>
            <a:ext cx="1371600" cy="938957"/>
          </a:xfrm>
          <a:prstGeom prst="roundRect">
            <a:avLst>
              <a:gd name="adj" fmla="val 8115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620000" y="2382292"/>
            <a:ext cx="116586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620000" y="2660303"/>
            <a:ext cx="11658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7620000" y="2844998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 atualizada com todos benefícios da família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66700" y="4794945"/>
            <a:ext cx="87828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Human-in-the-loop: validação humana em etapas críticas (OCR de documentos, exceções, casos complexos).</a:t>
            </a:r>
            <a:endParaRPr lang="en-US" sz="6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66700"/>
            <a:ext cx="44011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 Caixa é o Parceiro Natural?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66700" y="514350"/>
            <a:ext cx="87828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junção da capilaridade da Caixa com o WhatsApp cria uma Infraestrutura Nacional de Execução de Direitos.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6700" y="998190"/>
            <a:ext cx="8610600" cy="1242120"/>
          </a:xfrm>
          <a:prstGeom prst="roundRect">
            <a:avLst>
              <a:gd name="adj" fmla="val 6135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9100" y="1150590"/>
            <a:ext cx="84719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Histórico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9100" y="1394371"/>
            <a:ext cx="8471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Caixa é o braço operacional de políticas sociais há décadas. Ninguém conhece melhor essa população.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66700" y="2354610"/>
            <a:ext cx="8610600" cy="1242120"/>
          </a:xfrm>
          <a:prstGeom prst="roundRect">
            <a:avLst>
              <a:gd name="adj" fmla="val 6135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9100" y="2507010"/>
            <a:ext cx="84719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Confiança Institucional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9100" y="2750790"/>
            <a:ext cx="8471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Grau de confiança do cidadão que nenhum banco privado possui. O Tá na Mão herda e reforça essa confiança.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6700" y="3711029"/>
            <a:ext cx="8610600" cy="1242120"/>
          </a:xfrm>
          <a:prstGeom prst="roundRect">
            <a:avLst>
              <a:gd name="adj" fmla="val 6135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9100" y="3863429"/>
            <a:ext cx="84719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Complementaridade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9100" y="4107210"/>
            <a:ext cx="8471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concorremos com a Caixa. Reforçamos seu papel público. Cada cidadão atendido via WhatsApp é uma pessoa a menos na fila da agência.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66700"/>
            <a:ext cx="44011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Caixa Ganha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66700" y="1371749"/>
            <a:ext cx="4248150" cy="828377"/>
          </a:xfrm>
          <a:prstGeom prst="roundRect">
            <a:avLst>
              <a:gd name="adj" fmla="val 9199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524149"/>
            <a:ext cx="40222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Filas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419100" y="1754535"/>
            <a:ext cx="402221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Cidadão orientado e com direito ativado via WhatsApp = menos atendimento presencial para dúvidas sobre benefícios.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629150" y="1444972"/>
            <a:ext cx="4248150" cy="681782"/>
          </a:xfrm>
          <a:prstGeom prst="roundRect">
            <a:avLst>
              <a:gd name="adj" fmla="val 11177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81550" y="1597372"/>
            <a:ext cx="40222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Reclamações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781550" y="1827758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Direito ativado = menos frustração = menos Ouvidoria e SAC.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266700" y="3514874"/>
            <a:ext cx="4248150" cy="828377"/>
          </a:xfrm>
          <a:prstGeom prst="roundRect">
            <a:avLst>
              <a:gd name="adj" fmla="val 9199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9100" y="3667274"/>
            <a:ext cx="40222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 Tem Fortalecido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19100" y="3897660"/>
            <a:ext cx="402221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complementa o app, ampliando alcance para quem tem dificuldade com interfaces digitais complexas.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629150" y="3514874"/>
            <a:ext cx="4248150" cy="828377"/>
          </a:xfrm>
          <a:prstGeom prst="roundRect">
            <a:avLst>
              <a:gd name="adj" fmla="val 9199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81550" y="3667274"/>
            <a:ext cx="40222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Protagonismo em Inclusão Social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781550" y="3897660"/>
            <a:ext cx="402221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 como referência nacional em "última milha" de direitos. Alinhamento com prioridades nacionais de inclusão.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66700"/>
            <a:ext cx="44011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Piloto: Validação em Dois Cenários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66700" y="495300"/>
            <a:ext cx="87828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garantir robustez nacional, propomos validação em contextos complementares.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266700" y="1652588"/>
            <a:ext cx="4248150" cy="1544836"/>
          </a:xfrm>
          <a:prstGeom prst="roundRect">
            <a:avLst>
              <a:gd name="adj" fmla="val 4933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1785938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1: Teste de Carga (Volume)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0050" y="1984028"/>
            <a:ext cx="4061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Região Metropolitana de São Paulo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00050" y="2187773"/>
            <a:ext cx="398145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robustez técnica com alto tráfego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integração com sistemas complexos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eficiência operacional em escala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29150" y="1652588"/>
            <a:ext cx="4248150" cy="1544836"/>
          </a:xfrm>
          <a:prstGeom prst="roundRect">
            <a:avLst>
              <a:gd name="adj" fmla="val 4933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0" y="1785938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2: Teste de Acesso (Vulnerabilidade)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62500" y="1984028"/>
            <a:ext cx="4061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Município estratégico no Nordeste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762500" y="2187773"/>
            <a:ext cx="398145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Provar execução na "última milha" real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onde o digital costuma falhar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impacto social máximo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66700" y="4227314"/>
            <a:ext cx="8610600" cy="763786"/>
          </a:xfrm>
          <a:prstGeom prst="roundRect">
            <a:avLst>
              <a:gd name="adj" fmla="val 9977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1000" y="4341614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Consolidado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000" y="4577804"/>
            <a:ext cx="5443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DURAÇÃO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81000" y="4716810"/>
            <a:ext cx="5443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6-9 meses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5198" y="4577804"/>
            <a:ext cx="8132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1105198" y="4716810"/>
            <a:ext cx="8132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 mil famílias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92970" y="4577804"/>
            <a:ext cx="22356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BENEFÍCIOS-HERÓIS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2092970" y="4716810"/>
            <a:ext cx="22356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Farmácia Popular, TSEE, PIS/PASEP, SVR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034504"/>
            <a:ext cx="44011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 de Eficiência e Impacto</a:t>
            </a:r>
            <a:endParaRPr lang="en-US" sz="1500" dirty="0"/>
          </a:p>
        </p:txBody>
      </p:sp>
      <p:pic>
        <p:nvPicPr>
          <p:cNvPr id="3" name="Image 0" descr="/tmp/rasterized-gradient-2f018c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3225254"/>
            <a:ext cx="8610600" cy="6113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0050" y="3358604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Potencial estimado: Famílias elegíveis deixam de acessar R$ 2.000-4.000/ano em direitos.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00050" y="3556695"/>
            <a:ext cx="85107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A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piloto entrega a métrica real para decisão de escala.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266700" y="4141440"/>
            <a:ext cx="87828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Valor Acessado: saques confirmados + descontos aplicados + créditos efetivados (conforme o benefício).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66700"/>
            <a:ext cx="44011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pedimos da CAIXA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66700" y="1161008"/>
            <a:ext cx="4257675" cy="503783"/>
          </a:xfrm>
          <a:prstGeom prst="roundRect">
            <a:avLst>
              <a:gd name="adj" fmla="val 11344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85750" y="1161008"/>
            <a:ext cx="0" cy="503783"/>
          </a:xfrm>
          <a:prstGeom prst="line">
            <a:avLst/>
          </a:prstGeom>
          <a:noFill/>
          <a:ln w="38100">
            <a:solidFill>
              <a:srgbClr val="C8E6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9100" y="1256258"/>
            <a:ext cx="40707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Squad Conjunto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19100" y="1440954"/>
            <a:ext cx="407079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TEIA + Benefícios + Caixa Tem + Compliance. Governança quinzenal com decisões ágeis.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619625" y="1161008"/>
            <a:ext cx="4257675" cy="503783"/>
          </a:xfrm>
          <a:prstGeom prst="roundRect">
            <a:avLst>
              <a:gd name="adj" fmla="val 11344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38675" y="1161008"/>
            <a:ext cx="0" cy="503783"/>
          </a:xfrm>
          <a:prstGeom prst="line">
            <a:avLst/>
          </a:prstGeom>
          <a:noFill/>
          <a:ln w="38100">
            <a:solidFill>
              <a:srgbClr val="C8E6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2025" y="1256258"/>
            <a:ext cx="40707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Dados Agregados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772025" y="1440954"/>
            <a:ext cx="407079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de fila e adoção para comparação piloto vs. controle. Sem dados pessoais.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66700" y="2577108"/>
            <a:ext cx="4257675" cy="503783"/>
          </a:xfrm>
          <a:prstGeom prst="roundRect">
            <a:avLst>
              <a:gd name="adj" fmla="val 11344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85750" y="2577108"/>
            <a:ext cx="0" cy="503783"/>
          </a:xfrm>
          <a:prstGeom prst="line">
            <a:avLst/>
          </a:prstGeom>
          <a:noFill/>
          <a:ln w="38100">
            <a:solidFill>
              <a:srgbClr val="C8E6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9100" y="2672358"/>
            <a:ext cx="40707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Co-comunicação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19100" y="2857054"/>
            <a:ext cx="407079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oficial verificado com mensagens alinhadas. Cidadão sabe que é parceria legítima.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19625" y="2577108"/>
            <a:ext cx="4257675" cy="503783"/>
          </a:xfrm>
          <a:prstGeom prst="roundRect">
            <a:avLst>
              <a:gd name="adj" fmla="val 11344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38675" y="2577108"/>
            <a:ext cx="0" cy="503783"/>
          </a:xfrm>
          <a:prstGeom prst="line">
            <a:avLst/>
          </a:prstGeom>
          <a:noFill/>
          <a:ln w="38100">
            <a:solidFill>
              <a:srgbClr val="C8E61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2025" y="2672358"/>
            <a:ext cx="40707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Segurança e Compliance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772025" y="2857054"/>
            <a:ext cx="407079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verificado, LGPD, trilha de auditoria. Nunca pedimos senha ou PIX.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66700" y="3993207"/>
            <a:ext cx="4257675" cy="503783"/>
          </a:xfrm>
          <a:prstGeom prst="roundRect">
            <a:avLst>
              <a:gd name="adj" fmla="val 11344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85750" y="3993207"/>
            <a:ext cx="0" cy="503783"/>
          </a:xfrm>
          <a:prstGeom prst="line">
            <a:avLst/>
          </a:prstGeom>
          <a:noFill/>
          <a:ln w="38100">
            <a:solidFill>
              <a:srgbClr val="C8E61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9100" y="4088457"/>
            <a:ext cx="40707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Resiliência Multicanal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19100" y="4273153"/>
            <a:ext cx="407079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primário, com contingência via Caixa Tem, SMS e web. Garantia de continuidade.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19625" y="4064050"/>
            <a:ext cx="4257675" cy="361950"/>
          </a:xfrm>
          <a:prstGeom prst="roundRect">
            <a:avLst>
              <a:gd name="adj" fmla="val 15789"/>
            </a:avLst>
          </a:prstGeom>
          <a:solidFill>
            <a:srgbClr val="C8E615">
              <a:alpha val="15000"/>
            </a:srgbClr>
          </a:solidFill>
          <a:ln w="19050">
            <a:solidFill>
              <a:srgbClr val="C8E61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13065" y="4178350"/>
            <a:ext cx="40707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Parceria baseada em transparência, segurança e foco no cidadão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66700"/>
            <a:ext cx="44011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CPSI / TEIA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66700" y="495300"/>
            <a:ext cx="87828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propomos novo mecanismo - usamos o modelo de inovação que a CAIXA já opera.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266700" y="2135535"/>
            <a:ext cx="3806130" cy="0"/>
          </a:xfrm>
          <a:prstGeom prst="line">
            <a:avLst/>
          </a:prstGeom>
          <a:noFill/>
          <a:ln w="19050">
            <a:solidFill>
              <a:srgbClr val="C8E6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700" y="1927920"/>
            <a:ext cx="38822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Parâmetros CPSI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66700" y="2297460"/>
            <a:ext cx="8743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Legal: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200150" y="2297460"/>
            <a:ext cx="17553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 182/2021 (Marco Legal das Startups)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66700" y="2507010"/>
            <a:ext cx="8743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Envelope: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200150" y="2507010"/>
            <a:ext cx="7723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R$ 1,6 milhão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66700" y="2716560"/>
            <a:ext cx="8743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Duração: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200150" y="2716560"/>
            <a:ext cx="12366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12 meses (renovável 1x)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66700" y="2926110"/>
            <a:ext cx="8743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Governança: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200150" y="2926110"/>
            <a:ext cx="11505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Conforme Lei 14.133/2021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6700" y="3192810"/>
            <a:ext cx="3806130" cy="670471"/>
          </a:xfrm>
          <a:prstGeom prst="roundRect">
            <a:avLst>
              <a:gd name="adj" fmla="val 8524"/>
            </a:avLst>
          </a:prstGeom>
          <a:solidFill>
            <a:srgbClr val="C8E615">
              <a:alpha val="10000"/>
            </a:srgbClr>
          </a:solidFill>
          <a:ln w="19050">
            <a:solidFill>
              <a:srgbClr val="C8E61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1000" y="3307110"/>
            <a:ext cx="36490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Gatilho de Escala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81000" y="3491805"/>
            <a:ext cx="364908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piloto atingir metas acordadas, contrato pode ser expandido 3-5x sem nova licitação.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225230" y="1870770"/>
            <a:ext cx="4652070" cy="632371"/>
          </a:xfrm>
          <a:prstGeom prst="roundRect">
            <a:avLst>
              <a:gd name="adj" fmla="val 9037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244280" y="1870770"/>
            <a:ext cx="0" cy="632371"/>
          </a:xfrm>
          <a:prstGeom prst="line">
            <a:avLst/>
          </a:prstGeom>
          <a:noFill/>
          <a:ln w="38100">
            <a:solidFill>
              <a:srgbClr val="C8E61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77630" y="1966020"/>
            <a:ext cx="44730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Entregáveis do Piloto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377630" y="2150715"/>
            <a:ext cx="447307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impacto com métricas validadas, recomendação de escala, e design do Contrato 2 para expansão.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225230" y="2579340"/>
            <a:ext cx="4652070" cy="632371"/>
          </a:xfrm>
          <a:prstGeom prst="roundRect">
            <a:avLst>
              <a:gd name="adj" fmla="val 9037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244280" y="2579340"/>
            <a:ext cx="0" cy="632371"/>
          </a:xfrm>
          <a:prstGeom prst="line">
            <a:avLst/>
          </a:prstGeom>
          <a:noFill/>
          <a:ln w="38100">
            <a:solidFill>
              <a:srgbClr val="C8E61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7630" y="2674590"/>
            <a:ext cx="44730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Conjunta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377630" y="2859286"/>
            <a:ext cx="447307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Comitê conjunto: CAIXA + Ministérios + Tá na Mão. Acompanhamento mensal com dashboards compartilhados.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225230" y="3287911"/>
            <a:ext cx="4652070" cy="632371"/>
          </a:xfrm>
          <a:prstGeom prst="roundRect">
            <a:avLst>
              <a:gd name="adj" fmla="val 9037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244280" y="3287911"/>
            <a:ext cx="0" cy="632371"/>
          </a:xfrm>
          <a:prstGeom prst="line">
            <a:avLst/>
          </a:prstGeom>
          <a:noFill/>
          <a:ln w="38100">
            <a:solidFill>
              <a:srgbClr val="C8E61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77630" y="3383161"/>
            <a:ext cx="44730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TEIA?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377630" y="3567857"/>
            <a:ext cx="447307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TEIA já possui experiência em pilotos de inovação, metodologia de avaliação, e relacionamento com áreas da CAIXA.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7898" y="600373"/>
            <a:ext cx="6208205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Transformar direitos em realidade — com a CAIXA no centro.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91490" y="1139428"/>
            <a:ext cx="816102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Brasil criou programas e garantiu recursos. O que falta é infraestrutura de última milha que transforme burocracia em cliques. Queremos construir isso junto com a CAIXA.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1905000" y="1720453"/>
            <a:ext cx="5334000" cy="798016"/>
          </a:xfrm>
          <a:prstGeom prst="roundRect">
            <a:avLst>
              <a:gd name="adj" fmla="val 9549"/>
            </a:avLst>
          </a:prstGeom>
          <a:solidFill>
            <a:srgbClr val="243142"/>
          </a:solidFill>
          <a:ln w="19050">
            <a:solidFill>
              <a:srgbClr val="C8E61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65401" y="1853803"/>
            <a:ext cx="501319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~R$ 50 bilhões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065401" y="2238524"/>
            <a:ext cx="50131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esperando chegar às famílias brasileiras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266700" y="2804220"/>
            <a:ext cx="8610600" cy="586532"/>
          </a:xfrm>
          <a:prstGeom prst="roundRect">
            <a:avLst>
              <a:gd name="adj" fmla="val 12992"/>
            </a:avLst>
          </a:prstGeom>
          <a:solidFill>
            <a:srgbClr val="C8E6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2918520"/>
            <a:ext cx="8394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PASSO: Workshop de 2 horas com TEIA, Benefícios e Compliance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57200" y="3129855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focada em definições práticas para iniciar o piloto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028700" y="3694063"/>
            <a:ext cx="2286000" cy="469404"/>
          </a:xfrm>
          <a:prstGeom prst="roundRect">
            <a:avLst>
              <a:gd name="adj" fmla="val 12175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41857" y="3770263"/>
            <a:ext cx="20596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1857" y="3975943"/>
            <a:ext cx="2059686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7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Territórios do piloto e benefícios-heróis selecionados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429000" y="3638401"/>
            <a:ext cx="2286000" cy="580727"/>
          </a:xfrm>
          <a:prstGeom prst="roundRect">
            <a:avLst>
              <a:gd name="adj" fmla="val 9841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42157" y="3714601"/>
            <a:ext cx="20596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42157" y="3920282"/>
            <a:ext cx="2059686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7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acordados e dados agregados (piloto vs. controle)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5829300" y="3694063"/>
            <a:ext cx="2286000" cy="469404"/>
          </a:xfrm>
          <a:prstGeom prst="roundRect">
            <a:avLst>
              <a:gd name="adj" fmla="val 12175"/>
            </a:avLst>
          </a:prstGeom>
          <a:solidFill>
            <a:srgbClr val="2431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42457" y="3770263"/>
            <a:ext cx="20596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8E6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2457" y="3975943"/>
            <a:ext cx="2059686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7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Governança, compliance e desenho CPSI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180594" y="4485829"/>
            <a:ext cx="87828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GOVERNO FEDERAL | CAIXA | TÁ NA MÃO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Tá na Mão - Proposta de Piloto CAIXA v11.0</dc:title>
  <dc:subject>Última Milha de Direitos Públicos</dc:subject>
  <dc:creator>Tá na Mão</dc:creator>
  <cp:lastModifiedBy>Tá na Mão</cp:lastModifiedBy>
  <cp:revision>1</cp:revision>
  <dcterms:created xsi:type="dcterms:W3CDTF">2025-12-19T17:36:13Z</dcterms:created>
  <dcterms:modified xsi:type="dcterms:W3CDTF">2025-12-19T17:36:13Z</dcterms:modified>
</cp:coreProperties>
</file>