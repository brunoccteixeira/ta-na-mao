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C8FF00"/>
                </a:solidFill>
                <a:latin typeface="Arial"/>
              </a:defRPr>
            </a:pPr>
            <a:r>
              <a:t>TA NA MAO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Ultimo Km de Direitos Publicos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FF00"/>
                </a:solidFill>
                <a:latin typeface="Arial"/>
              </a:defRPr>
            </a:pPr>
            <a:r>
              <a:t>De direito previsto em lei a direito na mao.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Arial"/>
              </a:defRPr>
            </a:pPr>
            <a:r>
              <a:t>GOVERNO FEDERAL | CAIXA | TA NA MAO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Arial"/>
              </a:defRPr>
            </a:pPr>
            <a:r>
              <a:t>PROPOSTA DE PILOTO VIA CPSI / ESPACO TEIA | JANEIRO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O gargalo nao e a verba. E a execucao na ponta.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O Brasil criou os programas. Garantiu os recursos.</a:t>
            </a:r>
            <a:br/>
            <a:r>
              <a:t>Mas o direito nem sempre chega.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5486400" cy="109728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"Imagine se o iFood existisse, a comida estivesse pronta... mas o ultimo km fosse complexo demais. E isso que acontece com R$ 50 bi em beneficios."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Cidadao como despachante digital: Navega dezenas de apps e senhas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Decifra regras federais, estaduais, municipais ao mesmo tempo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O que falta nao e politica publica - e infraestrutura de execucao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Vazamento Social: Quem Tem Direito, Nao Acessa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228600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~90%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1A2E"/>
                </a:solidFill>
                <a:latin typeface="Arial"/>
              </a:defRPr>
            </a:pPr>
            <a:r>
              <a:t>Em programas especificos,</a:t>
            </a:r>
            <a:br/>
            <a:r>
              <a:t>a nao-adesao chega a 90%</a:t>
            </a:r>
            <a:br/>
            <a:r>
              <a:t>do publico estimado.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3657600" cy="118872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5087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Tarifa Social (TSEE)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874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7,7 milhoes de familias tem direito, mas nao recebem.</a:t>
            </a:r>
            <a:br/>
            <a:r>
              <a:t>Deixam de economizar R$ 540/ano.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743200"/>
            <a:ext cx="3657600" cy="118872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8803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Farmacia Popular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246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Milhoes com doencas cronicas tem direito, mas a penetracao efetiva e muito abaixo do potencial.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114800"/>
            <a:ext cx="3657600" cy="118872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42519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Dignidade Menstrual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617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Publico estimado ~24 mi; ~2,5 mi beneficiadas/ano (apenas 10% acessam).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Arial"/>
              </a:defRPr>
            </a:pPr>
            <a:r>
              <a:t>Fontes: ANEEL 2025; MDS 2025; MS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Do Saque Extraordinario ao Ta na Mao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O Saque Extraordinario 2022 liberou R$ 23,6 bi. Os programas abaixo ja existem, somam ~R$ 50 bi e precisam de infraestrutura de execucao, nao nova MP.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6400800" cy="54864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PIS/PASEP (Cotas 1971-1988)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3317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~R$ 26,3 Bilhoes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108960"/>
            <a:ext cx="4114800" cy="54864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TSEE + Farmacia Popular + Outros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1546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~R$ 15 Bilhoes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931920"/>
            <a:ext cx="2743200" cy="54864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Valores a Receber (SVR)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97763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~R$ 8-10 Bilhoes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FF00"/>
                </a:solidFill>
                <a:latin typeface="Arial"/>
              </a:defRPr>
            </a:pPr>
            <a:r>
              <a:t>Transformar recursos ja autorizados em renda e dignidade na ponta.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Ta na Mao: Execucao de Direitos via WhatsApp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Informacao nao basta. Executamos a jornada para que o direito seja ativado.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486400" cy="118872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Arial"/>
              </a:defRPr>
            </a:pPr>
            <a:r>
              <a:t>"A partir de poucos dados, descobrimos a quais beneficios o cidadao ja tem direito. Um Motor Normativo orquestra a burocracia ate que o direito esteja, de fato, na mao."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64592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Canais Atuais (Gov.br)</a:t>
                      </a:r>
                    </a:p>
                  </a:txBody>
                  <a:tcPr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Ta na Mao</a:t>
                      </a:r>
                    </a:p>
                  </a:txBody>
                  <a:tcPr>
                    <a:solidFill>
                      <a:srgbClr val="C8FF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Autoatendimento digital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Execucao assistida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Cidadao navega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Direito e ativado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Informacao disponivel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Jornada executada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Transacao isolada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Visao 360 da familia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FF00"/>
                </a:solidFill>
                <a:latin typeface="Arial"/>
              </a:defRPr>
            </a:pPr>
            <a:r>
              <a:t>Regra de Ouro: Cidadao nunca paga pelo beneficio.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O Que Ja Construimos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Produto Funcional - Pronto para Piloto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164592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1A2E"/>
                </a:solidFill>
                <a:latin typeface="Arial"/>
              </a:defRPr>
            </a:pPr>
            <a:r>
              <a:t>Telas no App Android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164592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346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1A2E"/>
                </a:solidFill>
                <a:latin typeface="Arial"/>
              </a:defRPr>
            </a:pPr>
            <a:r>
              <a:t>Tools do Agente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68880" cy="164592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94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1A2E"/>
                </a:solidFill>
                <a:latin typeface="Arial"/>
              </a:defRPr>
            </a:pPr>
            <a:r>
              <a:t>Programas Rastreados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1645920"/>
          </a:xfrm>
          <a:prstGeom prst="round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19456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8346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A1A2E"/>
                </a:solidFill>
                <a:latin typeface="Arial"/>
              </a:defRPr>
            </a:pPr>
            <a:r>
              <a:t>Backend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FF00"/>
                </a:solidFill>
                <a:latin typeface="Arial"/>
              </a:defRPr>
            </a:pPr>
            <a:r>
              <a:t>Tecnologia: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Google Gemini 2.0 Flash (IA conversacional)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Arquitetura Orchestrator + Sub-agents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Integracao WhatsApp (Twilio)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Dashboard web para gestores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8FF00"/>
                </a:solidFill>
                <a:latin typeface="Arial"/>
              </a:defRPr>
            </a:pPr>
            <a:r>
              <a:t>App Ta na Mao - Interface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4572000"/>
          </a:xfrm>
          <a:prstGeom prst="roundRect">
            <a:avLst/>
          </a:prstGeom>
          <a:solidFill>
            <a:srgbClr val="353850"/>
          </a:solidFill>
          <a:ln w="2540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FF00"/>
                </a:solidFill>
                <a:latin typeface="Arial"/>
              </a:defRPr>
            </a:pPr>
            <a:r>
              <a:t>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Resumo de beneficios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Dinheiro esquecido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Proximos pagamentos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Servicos perto de voce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4572000"/>
          </a:xfrm>
          <a:prstGeom prst="roundRect">
            <a:avLst/>
          </a:prstGeom>
          <a:solidFill>
            <a:srgbClr val="353850"/>
          </a:solidFill>
          <a:ln w="2540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FF00"/>
                </a:solidFill>
                <a:latin typeface="Arial"/>
              </a:defRPr>
            </a:pPr>
            <a:r>
              <a:t>Chat com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031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Assistente inteligente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Quick actions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Envio de fotos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Respostas estruturadas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4572000"/>
          </a:xfrm>
          <a:prstGeom prst="roundRect">
            <a:avLst/>
          </a:prstGeom>
          <a:solidFill>
            <a:srgbClr val="353850"/>
          </a:solidFill>
          <a:ln w="2540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FF00"/>
                </a:solidFill>
                <a:latin typeface="Arial"/>
              </a:defRPr>
            </a:pPr>
            <a:r>
              <a:t>Carteira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Beneficios ativos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Elegiveis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Historico completo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560320" cy="4572000"/>
          </a:xfrm>
          <a:prstGeom prst="roundRect">
            <a:avLst/>
          </a:prstGeom>
          <a:solidFill>
            <a:srgbClr val="353850"/>
          </a:solidFill>
          <a:ln w="2540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5544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FF00"/>
                </a:solidFill>
                <a:latin typeface="Arial"/>
              </a:defRPr>
            </a:pPr>
            <a:r>
              <a:t>Mapa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10312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CRAS proximos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Farmacias populares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Integracao GPS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Motor Normativo: Inteligencia de Elegibilidade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Interpretacao de regras + orquestracao de jornadas.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82880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Motor de Elegibilidade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Cruza perfil com catalogo vivo de beneficios (Uniao, Estados, Municipios). Nao e atendimento, e execucao assistida.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03520" cy="182880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965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Orquestracao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Integracoes e fluxos oficiais em CadUnico e Gov.br, com suporte humano em etapas criticas.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303520" cy="182880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Carteira de Direitos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348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Visao 360 persistente por familia, historico completo de beneficios ativados.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303520" cy="182880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69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Atualizacao Continua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4348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Quando as regras mudam (lei, decreto), o motor e atualizado. Catalogo vivo.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Por Que a Caixa e o Parceiro Natural?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A juncao da capilaridade da Caixa com o WhatsApp cria uma Infraestrutura Nacional de Execucao.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Hub Historico: A Caixa e o braco operacional de politicas sociais ha decadas.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Confianca: Grau de confianca do cidadao que nenhum banco privado possui.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Complementaridade: Cada cidadao atendido via WhatsApp e uma pessoa a menos na fila da agencia.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O Que a Caixa Ganha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303520" cy="201168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Menos Filas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Cidadao orientado e com direito ativado via WhatsApp = menos atendimento presencial.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201168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Menos Reclamacoes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48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Direito ativado = menos frustracao = menos Ouvidoria e SAC.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01168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Caixa Tem Fortalecido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34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WhatsApp complementa o app, ampliando alcance para quem tem dificuldade digital.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303520" cy="201168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0690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Protagonismo Social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434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Caixa como referencia nacional em "ultima milha" de direitos.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C8FF00"/>
                </a:solidFill>
                <a:latin typeface="Arial"/>
              </a:defRPr>
            </a:pPr>
            <a:r>
              <a:t>Piloto: Validacao em Sao Paulo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Escopo: 6-9 meses | ~1.000 familias | Farmacia Popular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029200" cy="2286000"/>
          </a:xfrm>
          <a:prstGeom prst="roundRect">
            <a:avLst/>
          </a:prstGeom>
          <a:solidFill>
            <a:srgbClr val="2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8FF00"/>
                </a:solidFill>
                <a:latin typeface="Arial"/>
              </a:defRPr>
            </a:pPr>
            <a:r>
              <a:t>Beneficio-Heroi: Farmacia Popular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Alto impacto individual (R$ 100-150/mes)</a:t>
            </a:r>
            <a:br/>
            <a:r>
              <a:t>• Milhoes com doencas cronicas</a:t>
            </a:r>
            <a:br/>
            <a:r>
              <a:t>• Jornada de ativacao bem definida</a:t>
            </a:r>
            <a:br/>
            <a:r>
              <a:t>• Validacao rapida de eficiencia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FF00"/>
                </a:solidFill>
                <a:latin typeface="Arial"/>
              </a:defRPr>
            </a:pPr>
            <a:r>
              <a:t>KPIs do Piloto: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22860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C8FF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Custo de Ativacao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&lt; 50% do custo atual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 Acessado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&gt; R$ 800/familia/ano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Taxa de Conclusao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&gt; 70%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NPS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&gt; 50</a:t>
                      </a:r>
                    </a:p>
                  </a:txBody>
                  <a:tcPr>
                    <a:solidFill>
                      <a:srgbClr val="2A2D4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Enquadramento: CPSI (LC 182/2021) | Ate R$ 1,6M | Via Espaco TEIA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FF00"/>
                </a:solidFill>
                <a:latin typeface="Arial"/>
              </a:defRPr>
            </a:pPr>
            <a:r>
              <a:t>Transformar direito em realidade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8FF00"/>
                </a:solidFill>
                <a:latin typeface="Arial"/>
              </a:defRPr>
            </a:pPr>
            <a:r>
              <a:t>- com a Caixa no centro.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O Brasil ja criou os programas e garantiu os recursos.</a:t>
            </a:r>
            <a:br/>
            <a:r>
              <a:t>O "Ta na Mao" propoe a infraestrutura do ultimo km</a:t>
            </a:r>
            <a:br/>
            <a:r>
              <a:t>que transforma burocracia em clique.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FF00"/>
                </a:solidFill>
                <a:latin typeface="Arial"/>
              </a:defRPr>
            </a:pPr>
            <a:r>
              <a:t>~R$ 50 bi esperando chegar na ponta.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5303520"/>
            <a:ext cx="5760720" cy="731520"/>
          </a:xfrm>
          <a:prstGeom prst="roundRect">
            <a:avLst/>
          </a:prstGeom>
          <a:solidFill>
            <a:srgbClr val="2A2D45"/>
          </a:solidFill>
          <a:ln w="12700">
            <a:solidFill>
              <a:srgbClr val="C8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544068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Proximo Passo: Workshop de 2h com TEIA, Beneficios e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