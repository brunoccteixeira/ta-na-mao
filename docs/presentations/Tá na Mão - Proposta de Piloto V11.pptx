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 Ligh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D26EC7-ACA3-49C2-BAE7-613CF4528B6A}">
  <a:tblStyle styleId="{92D26EC7-ACA3-49C2-BAE7-613CF4528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SpaceGrotesk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1" Type="http://schemas.openxmlformats.org/officeDocument/2006/relationships/image" Target="../media/image23.png"/><Relationship Id="rId10" Type="http://schemas.openxmlformats.org/officeDocument/2006/relationships/image" Target="../media/image16.png"/><Relationship Id="rId9" Type="http://schemas.openxmlformats.org/officeDocument/2006/relationships/image" Target="../media/image32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11" Type="http://schemas.openxmlformats.org/officeDocument/2006/relationships/image" Target="../media/image31.png"/><Relationship Id="rId10" Type="http://schemas.openxmlformats.org/officeDocument/2006/relationships/image" Target="../media/image17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11" Type="http://schemas.openxmlformats.org/officeDocument/2006/relationships/image" Target="../media/image35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5605" y="2312640"/>
            <a:ext cx="632079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TÁ NA MÃO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35605" y="3078360"/>
            <a:ext cx="63207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Última Milha de Direitos Públicos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86100" y="376416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F6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 direito previsto em lei a direito na mão.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624840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GOVERNO FEDERAL  |  CAIXA  |  TÁ NA MÃO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PROPOSTA DE PILOTO VIA CPSI / ESPAÇO TEIA | VERSÃO 11.0 | DEZEMBRO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5655"/>
            <a:ext cx="52387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939355"/>
            <a:ext cx="5238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Brasil criou os programas. Garantiu os recursos. Mas o direito </a:t>
            </a:r>
            <a:r>
              <a:rPr lang="en-US" sz="18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nem sempre</a:t>
            </a: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chega.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0100" y="4006155"/>
            <a:ext cx="481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"Imagine se o iFood existisse, a comida estivesse pronta... mas a últim</a:t>
            </a:r>
            <a:r>
              <a:rPr i="1"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1"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km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fosse complex</a:t>
            </a:r>
            <a:r>
              <a:rPr i="1"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demais. É isso que acontece com R$ 50 bi em benefícios."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422999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422999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Cidadão como despachante digital: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Navega dezenas de apps e senhas.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477601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4791843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Decifra regras federais, estaduais e municipais ao mesmo tempo.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540144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5401443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O que falta não é política pública — é infraestrutura de execução.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gargalo não é a verba. É a execução na ponta.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mova o texto em branco na diagonal" id="105" name="Google Shape;10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725" y="1658250"/>
            <a:ext cx="48768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3867150" cy="489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150" y="1765101"/>
            <a:ext cx="7181850" cy="1297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150" y="3205162"/>
            <a:ext cx="71818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150" y="4416623"/>
            <a:ext cx="7181850" cy="106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43012" y="2904083"/>
            <a:ext cx="2524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~90%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51833"/>
            <a:ext cx="31051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 programas específicos, a não-adesão chega a 90% do público estimado.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010150" y="5580459"/>
            <a:ext cx="7181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Fontes: TSEE (ANEEL, 2024); Dignidade Menstrual (MS/MDS, 2024); Farmácia Popular (MS, 2024).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286375" y="2012751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💊 Farmácia Popular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286375" y="2357437"/>
            <a:ext cx="6657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Milhões com doenças crônicas têm direito, mas a penetração efetiva é muito abaixo do potencial.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286375" y="3452812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🩸 Dignidade Menstrual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286375" y="3797498"/>
            <a:ext cx="6657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Público estimado ~24 mi; &gt;2 mi beneficiadas/ano (≈8% acessam).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286375" y="4664273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⚡ Tarifa Social (TSEE)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286375" y="5008959"/>
            <a:ext cx="6657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7,7 milhões de famílias têm direito, mas não recebem. Deixam de economizar R$ 540/ano.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Vazamento Social: Quem Tem Direito, Não Acessa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11049000" cy="4894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2286892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Saque Extraordinário 2022 liberou R$ 23,6 bi. Os programas abaixo já existem, somam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~R$ 50 bi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precisam de infraestrutura de execução, não nova MP.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513486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F6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Transformar recursos já autorizados em renda e dignidade na ponta.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Do Saque Extraordinário ao Tá na Mão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81400"/>
            <a:ext cx="5238750" cy="1592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48792"/>
            <a:ext cx="52387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71462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Informação não basta. Executamos a jornada para que o direito seja ativado.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5001517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Regra de Ouro: Cidadão nunca paga pelo benefício.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19150" y="3829050"/>
            <a:ext cx="4743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 partir de poucos dados, descobrimos a quais benefícios o cidadão já tem direito. Um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Motor Normativo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orquestra a burocracia até que o direito esteja, de fato, na mão."</a:t>
            </a:r>
            <a:endParaRPr/>
          </a:p>
        </p:txBody>
      </p:sp>
      <p:graphicFrame>
        <p:nvGraphicFramePr>
          <p:cNvPr id="146" name="Google Shape;146;p17"/>
          <p:cNvGraphicFramePr/>
          <p:nvPr/>
        </p:nvGraphicFramePr>
        <p:xfrm>
          <a:off x="6381750" y="2248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{92D26EC7-ACA3-49C2-BAE7-613CF4528B6A}</a:tableStyleId>
              </a:tblPr>
              <a:tblGrid>
                <a:gridCol w="2760175"/>
                <a:gridCol w="2421425"/>
              </a:tblGrid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Canais Atuais (Gov.br)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Tá na Mão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Autoatendimento digital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Execução assistida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navega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Direito é ativado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Informação disponível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Jornada executada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Transação isolada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Visão 360° da família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504914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6400800" y="2772667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180016" y="2772667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400800" y="3277492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9180016" y="3277492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400800" y="3782317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180016" y="3782317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400800" y="4287142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180016" y="4287142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Tá na Mão: Execução de Direitos via WhatsApp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026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68026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7631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276319"/>
            <a:ext cx="5405437" cy="246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19150" y="244226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de Elegibilidade (🔽)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19150" y="2958405"/>
            <a:ext cx="491013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Cruza perfil com catálogo vivo de benefícios (União, Estados, Municípios). Não é atendimento, é execução assistida.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462712" y="244226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Orquestração (🔗)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462712" y="295840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Integrações e fluxos oficiais em CadÚnico e Gov.br, com suporte humano em etapas críticas.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19150" y="5038319"/>
            <a:ext cx="51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Carteira de Direitos (📋)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19150" y="5554455"/>
            <a:ext cx="4910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Visão 360° persistente por família, histórico completo de benefícios ativados.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462712" y="4927482"/>
            <a:ext cx="515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Atualização Contínua (🔄)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462712" y="5443618"/>
            <a:ext cx="4910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Quando as regras mudam (lei, decreto), o motor é atualizado continuamente. Catálogo vivo.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9564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2712" y="195649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45525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62712" y="444170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62000" y="2083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Normativo: Inteligência de Elegibilidade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2083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2628400" y="1051625"/>
            <a:ext cx="707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Interpretação de regras + orquestração de jornadas.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8242"/>
            <a:ext cx="11049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559206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Human-in-the-loop: validação humana em etapas críticas (OCR, exceções).</a:t>
            </a:r>
            <a:endParaRPr/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571500" y="1658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{92D26EC7-ACA3-49C2-BAE7-613CF4528B6A}</a:tableStyleId>
              </a:tblPr>
              <a:tblGrid>
                <a:gridCol w="1097150"/>
                <a:gridCol w="2194475"/>
                <a:gridCol w="7681175"/>
              </a:tblGrid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Etapa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Detalhe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Pedido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inicia via WhatsApp (CPF + CEP)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Consentimento LGPD explícito e transparente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Preparo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Motor cruza perfil com catálogo de benefícios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 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Orquestração da jornada com integrações oficiais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 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Ativado!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recebe comprovante do direito ativado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 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Histórico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Carteira atualizada com todos os benefícios da família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9"/>
          <p:cNvSpPr/>
          <p:nvPr/>
        </p:nvSpPr>
        <p:spPr>
          <a:xfrm>
            <a:off x="590550" y="218211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706760" y="218211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920281" y="218211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90550" y="268694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706760" y="268694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920281" y="268694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90550" y="319176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706760" y="319176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920281" y="319176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90550" y="369659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706760" y="369659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920281" y="369659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90550" y="420141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1706760" y="420141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920281" y="420141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90550" y="470624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1706760" y="470624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920281" y="470624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Jornada: Do Pedido à Ativação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3446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272504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junção da capilaridade da Caixa com o WhatsApp cria uma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Infraestrutura Nacional de Execução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4399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57250" y="342989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52500" y="342989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Hub Histórico: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Caixa é o braço operacional de políticas sociais há décadas.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57250" y="400757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52500" y="4007577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Confiança: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Grau de confiança do cidadão que nenhum banco privado possui.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57250" y="452192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52500" y="4537761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Complementaridade: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Cada cidadão atendido via WhatsApp é uma pessoa a menos na fila da agência.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a Caixa é o Parceiro Natural?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19150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Filas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19150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Cidadão orientado e com direito ativado via WhatsApp = menos atendimento presencial.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462712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Reclamações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462712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Direito ativado = menos frustração = menos Ouvidoria e SAC.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19150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Caixa Tem Fortalecido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19150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WhatsApp complementa o app, ampliando alcance para quem tem dificuldade digital.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462712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Protagonismo Social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462712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Caixa como referência nacional em "última milha" de direitos.</a:t>
            </a:r>
            <a:endParaRPr/>
          </a:p>
        </p:txBody>
      </p:sp>
      <p:pic>
        <p:nvPicPr>
          <p:cNvPr descr="image.png" id="243" name="Google Shape;24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850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2712" y="178504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423475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62712" y="423475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a Caixa Ganha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5238750" cy="4103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392435"/>
            <a:ext cx="5238750" cy="410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8578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Escopo: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6-9 meses | ~60 mil famílias | Farmácia Popular, TSEE, PIS/PASEP, SVR.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57250" y="1640085"/>
            <a:ext cx="494061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🏙️ Cenário 1: Teste de Carga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57250" y="2156221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Região Metropolitana de SP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667500" y="1640085"/>
            <a:ext cx="494061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🌾 Cenário 2: Teste de Acesso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667500" y="2156221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Município Estratégico no NE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143000" y="27372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238250" y="273724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Validar robustez técnica com alto tráfego.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143000" y="2994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238250" y="2994421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Testar integração com sistemas complexos.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143000" y="32515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238250" y="325159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Medir eficiência operacional em escala.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953250" y="27372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048500" y="273724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Provar execução na "última milha" real.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953250" y="2994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7048500" y="2994421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Validar onde o digital costuma falhar.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953250" y="32515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7048500" y="325159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Medir impacto social máximo.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Piloto: Validação em Dois Cenários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110490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13" y="4545199"/>
            <a:ext cx="11049000" cy="792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3"/>
          <p:cNvGraphicFramePr/>
          <p:nvPr/>
        </p:nvGraphicFramePr>
        <p:xfrm>
          <a:off x="571500" y="13924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{92D26EC7-ACA3-49C2-BAE7-613CF4528B6A}</a:tableStyleId>
              </a:tblPr>
              <a:tblGrid>
                <a:gridCol w="2439900"/>
                <a:gridCol w="4493875"/>
                <a:gridCol w="4039050"/>
              </a:tblGrid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KPI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 Que Mede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Por Que Importa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 de Ativação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R$ por família ativada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Eficiência operacional comparada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Valor Acessado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R$ em direitos efetivamente acessados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Impacto social mensurável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Taxa de Conclusão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de elegíveis que completam jornada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Validação do modelo de execução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Redução de Filas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Δ atendimentos nas agências piloto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ROI direto para Caixa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23"/>
          <p:cNvSpPr txBox="1"/>
          <p:nvPr/>
        </p:nvSpPr>
        <p:spPr>
          <a:xfrm>
            <a:off x="714375" y="4812710"/>
            <a:ext cx="1076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Potencial: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Famílias elegíveis deixam de acessar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R$ 2.000-4.000/ano</a:t>
            </a: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 O piloto entrega a métrica real.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90550" y="1916310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3049488" y="1916310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7562403" y="1916310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90550" y="2421135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049488" y="2421135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7562403" y="2421135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90550" y="2925960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3049488" y="2925960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7562403" y="2925960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90550" y="3430785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3049488" y="3430785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7562403" y="3430785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Laboratório de Eficiência e Impacto</a:t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19150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Squad Conjunto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819150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 misto: TEIA + Benefícios + Caixa Tem + Compliance. Governança compartilhada.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462712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Agregados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462712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Indicadores de filas e adesão para medir impacto. Sem acesso a dados individuais.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819150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Co-comunicação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819150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Canal oficial verificado, notificações Caixa Tem. Co-branding que reforça confiança.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462712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Segurança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6462712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Consentimento LGPD explícito. Nunca pedimos senha. Acesso Gov.br em ambiente oficial.</a:t>
            </a:r>
            <a:endParaRPr/>
          </a:p>
        </p:txBody>
      </p:sp>
      <p:pic>
        <p:nvPicPr>
          <p:cNvPr descr="image.png" id="315" name="Google Shape;31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8504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2712" y="1785044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423475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62712" y="423475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Parceria no Piloto: O Que Precisamos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1312"/>
            <a:ext cx="5238750" cy="1916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81312"/>
            <a:ext cx="5238750" cy="191631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 txBox="1"/>
          <p:nvPr/>
        </p:nvSpPr>
        <p:spPr>
          <a:xfrm>
            <a:off x="847725" y="3128962"/>
            <a:ext cx="49506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📋 Enquadramento CPSI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6657975" y="3128962"/>
            <a:ext cx="4950618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🚀 Gatilho de Escala &amp; Governança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133475" y="362604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228725" y="362604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Legal: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Startups (LC 182/2021).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133475" y="388322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228725" y="3883223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Envelope: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Até R$ 1,6 milhão.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133475" y="414039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228725" y="414039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Vigência: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Até 12 meses.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943725" y="362604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7038975" y="362604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 caso de sucesso, contrato ampliado (3-5x).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943725" y="388322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7038975" y="3883223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Comitê Conjunto: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Caixa + Ministérios.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943725" y="414039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038975" y="414039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Acompanhamento mensal de indicadores e riscos.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Enquadramento: CPSI / Espaço TEIA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3175" y="4711005"/>
            <a:ext cx="71056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/>
          <p:nvPr/>
        </p:nvSpPr>
        <p:spPr>
          <a:xfrm>
            <a:off x="1715452" y="1461194"/>
            <a:ext cx="876109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Transformar direito em realidade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— com a Caixa no centro.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1924050" y="3015555"/>
            <a:ext cx="8343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Brasil já criou os programas e garantiu os recursos.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"Tá na Mão"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propõe a infraestrutura d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último km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que transforma burocracia em clique.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924050" y="3977580"/>
            <a:ext cx="8343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~R$ 50 bi esperando chegar na ponta.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2933700" y="4911030"/>
            <a:ext cx="6324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Próximo Passo: Workshop de 2h com TEIA, Benefícios e Compliance.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