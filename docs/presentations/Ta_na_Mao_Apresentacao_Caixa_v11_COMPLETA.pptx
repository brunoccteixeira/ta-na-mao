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6666"/>
                </a:solidFill>
              </a:defRPr>
            </a:pPr>
            <a:r>
              <a:t>TÁ NA MÃO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Última Milha de Direitos Públicos</a:t>
            </a:r>
          </a:p>
          <a:p/>
          <a:p>
            <a:r>
              <a:t>Proposta de Piloto via CPSI / Espaço TEIA</a:t>
            </a:r>
          </a:p>
          <a:p/>
          <a:p>
            <a:r>
              <a:t>De direito previsto em lei a direito na mão.</a:t>
            </a:r>
          </a:p>
          <a:p/>
          <a:p>
            <a:r>
              <a:t>GOVERNO FEDERAL | CAIXA | TÁ NA MÃO</a:t>
            </a:r>
          </a:p>
          <a:p/>
          <a:p>
            <a:r>
              <a:t>Versão 11.0 | Dezembro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gargalo não é a verba. É a execução na ponta.</a:t>
            </a:r>
          </a:p>
          <a:p>
            <a:br/>
            <a:pPr>
              <a:defRPr sz="1600"/>
            </a:pPr>
            <a:r>
              <a:t>O Brasil criou os programas. Garantiu os recursos. Mas o direito não chega.</a:t>
            </a:r>
          </a:p>
          <a:p>
            <a:br/>
            <a:pPr>
              <a:defRPr sz="1800" b="1"/>
            </a:pPr>
            <a:r>
              <a:t>🍔 Analogia:</a:t>
            </a:r>
          </a:p>
          <a:p>
            <a:pPr>
              <a:defRPr sz="1400" i="1"/>
            </a:pPr>
            <a:r>
              <a:t>Imagine se o iFood existisse, os restaurantes estivessem abertos, a comida pronta... mas a última milha fosse complexa demais para boa parte das famílias.</a:t>
            </a:r>
          </a:p>
          <a:p>
            <a:br/>
            <a:pPr>
              <a:defRPr sz="1400" i="1"/>
            </a:pPr>
            <a:r>
              <a:t>É isso que acontece com R$ 50 bi em benefícios públicos.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VAZAMENTO SOCIAL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Quem Tem Direito, Não Acessa</a:t>
            </a:r>
          </a:p>
          <a:p>
            <a:br/>
            <a:pPr>
              <a:defRPr sz="2000" b="1">
                <a:solidFill>
                  <a:srgbClr val="FF6600"/>
                </a:solidFill>
              </a:defRPr>
            </a:pPr>
            <a:r>
              <a:t>🔸 Até ~90%</a:t>
            </a:r>
          </a:p>
          <a:p>
            <a:pPr>
              <a:defRPr sz="1400"/>
            </a:pPr>
            <a:r>
              <a:t>Em programas específicos, a não-adesão chega a ~90% do público estimado</a:t>
            </a:r>
          </a:p>
          <a:p>
            <a:br/>
            <a:pPr>
              <a:defRPr sz="1400"/>
            </a:pPr>
            <a:r>
              <a:t>💊 Farmácia Popular: Milhões com doenças crônicas têm direito. Penetração muito abaixo do potencial.</a:t>
            </a:r>
          </a:p>
          <a:p>
            <a:br/>
            <a:pPr>
              <a:defRPr sz="1400"/>
            </a:pPr>
            <a:r>
              <a:t>🩸 Dignidade Menstrual: ~24 mi elegíveis; &gt;2 mi beneficiadas/ano (≈8%)</a:t>
            </a:r>
          </a:p>
          <a:p>
            <a:br/>
            <a:pPr>
              <a:defRPr sz="1400"/>
            </a:pPr>
            <a:r>
              <a:t>⚡ TSEE: 7,7 mi famílias têm direito, mas não recebem. R$ 540/ano perdidos.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R$ 50 BI ESPERANDO CHEGAR NA PONTA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Saque Extraordinário ao Tá na Mão</a:t>
            </a:r>
          </a:p>
          <a:p>
            <a:br/>
            <a:pPr>
              <a:defRPr sz="1400"/>
            </a:pPr>
            <a:r>
              <a:t>O Saque Extraordinário do FGTS liberou R$ 23,6 bi para 32,7 mi trabalhadores.</a:t>
            </a:r>
          </a:p>
          <a:p>
            <a:br/>
            <a:pPr>
              <a:defRPr sz="1400"/>
            </a:pPr>
            <a:r>
              <a:t>Programas abaixo já existem e somam ~R$ 50 bi esperando chegar na ponta:</a:t>
            </a:r>
          </a:p>
          <a:p>
            <a:br/>
            <a:pPr>
              <a:defRPr sz="1600"/>
            </a:pPr>
            <a:r>
              <a:t>• PIS/PASEP (1971-1988): ~R$ 26,0 bi</a:t>
            </a:r>
          </a:p>
          <a:p>
            <a:pPr>
              <a:defRPr sz="1600"/>
            </a:pPr>
            <a:r>
              <a:t>• SVR/BCB (ainda não sacados): ~R$ 8,7 bi</a:t>
            </a:r>
          </a:p>
          <a:p>
            <a:pPr>
              <a:defRPr sz="1600"/>
            </a:pPr>
            <a:r>
              <a:t>• TSEE + Farmácia + Outros: ~R$ 15,3 bi</a:t>
            </a:r>
          </a:p>
          <a:p>
            <a:br/>
            <a:pPr>
              <a:defRPr sz="2000" b="1">
                <a:solidFill>
                  <a:srgbClr val="FF6600"/>
                </a:solidFill>
              </a:defRPr>
            </a:pPr>
            <a:r>
              <a:t>💰 TOTAL ESTIMADO: ~R$ 50 bi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Tá na Mão: Execução de Direitos via WhatsApp</a:t>
            </a:r>
          </a:p>
          <a:p>
            <a:br/>
            <a:pPr>
              <a:defRPr sz="1600"/>
            </a:pPr>
            <a:r>
              <a:t>Informação não basta. Executamos a jornada para que o direito seja ativado com rastreabilidade.</a:t>
            </a:r>
          </a:p>
          <a:p>
            <a:br/>
            <a:pPr>
              <a:defRPr sz="1600" b="1"/>
            </a:pPr>
            <a:r>
              <a:t>📱 Canais atuais vs. Tá na Mão:</a:t>
            </a:r>
          </a:p>
          <a:p>
            <a:br/>
            <a:pPr>
              <a:defRPr sz="1400"/>
            </a:pPr>
            <a:r>
              <a:t>• Autoatendimento → Execução assistida</a:t>
            </a:r>
          </a:p>
          <a:p>
            <a:pPr>
              <a:defRPr sz="1400"/>
            </a:pPr>
            <a:r>
              <a:t>• Cidadão navega → Direito é ativado</a:t>
            </a:r>
          </a:p>
          <a:p>
            <a:pPr>
              <a:defRPr sz="1400"/>
            </a:pPr>
            <a:r>
              <a:t>• Informação disponível → Jornada executada</a:t>
            </a:r>
          </a:p>
          <a:p>
            <a:br/>
            <a:pPr>
              <a:defRPr sz="1600" b="1">
                <a:solidFill>
                  <a:srgbClr val="FF6600"/>
                </a:solidFill>
              </a:defRPr>
            </a:pPr>
            <a:r>
              <a:t>⭐ Regra de Ouro: Cidadão nunca paga pelo benefício público.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MOTOR NORMATIVO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Inteligência de Elegibilidade e Execução</a:t>
            </a:r>
          </a:p>
          <a:p>
            <a:br/>
            <a:pPr>
              <a:defRPr sz="1600" b="1"/>
            </a:pPr>
            <a:r>
              <a:t>🔽 Motor de Elegibilidade</a:t>
            </a:r>
          </a:p>
          <a:p>
            <a:pPr>
              <a:defRPr sz="1400"/>
            </a:pPr>
            <a:r>
              <a:t>Cruza perfil do cidadão/família com catálogo vivo de benefícios</a:t>
            </a:r>
          </a:p>
          <a:p>
            <a:br/>
            <a:pPr>
              <a:defRPr sz="1600" b="1"/>
            </a:pPr>
            <a:r>
              <a:t>🔗 Orquestração Multi-Sistemas</a:t>
            </a:r>
          </a:p>
          <a:p>
            <a:pPr>
              <a:defRPr sz="1400"/>
            </a:pPr>
            <a:r>
              <a:t>Jornada com integrações em CadÚnico, Gov.br e sistemas setoriais</a:t>
            </a:r>
          </a:p>
          <a:p>
            <a:br/>
            <a:pPr>
              <a:defRPr sz="1600" b="1"/>
            </a:pPr>
            <a:r>
              <a:t>📋 Carteira de Direitos</a:t>
            </a:r>
          </a:p>
          <a:p>
            <a:pPr>
              <a:defRPr sz="1400"/>
            </a:pPr>
            <a:r>
              <a:t>Visão 360° persistente por família, não por transação isolada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JORNADA DO CIDADÃO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 Pedido à Ativação - 6 etapas</a:t>
            </a:r>
          </a:p>
          <a:p>
            <a:br/>
            <a:pPr>
              <a:defRPr sz="1400"/>
            </a:pPr>
            <a:r>
              <a:t>1. 📱 Pedido: WhatsApp (CPF + CEP)</a:t>
            </a:r>
          </a:p>
          <a:p>
            <a:br/>
            <a:pPr>
              <a:defRPr sz="1400"/>
            </a:pPr>
            <a:r>
              <a:t>2. ✅ Confirmação: Consentimento LGPD</a:t>
            </a:r>
          </a:p>
          <a:p>
            <a:br/>
            <a:pPr>
              <a:defRPr sz="1400"/>
            </a:pPr>
            <a:r>
              <a:t>3. 🔍 Preparo: Motor cruza perfil com catálogo</a:t>
            </a:r>
          </a:p>
          <a:p>
            <a:br/>
            <a:pPr>
              <a:defRPr sz="1400"/>
            </a:pPr>
            <a:r>
              <a:t>4. 🛵 Execução: Orquestração com integrações oficiais</a:t>
            </a:r>
          </a:p>
          <a:p>
            <a:br/>
            <a:pPr>
              <a:defRPr sz="1400"/>
            </a:pPr>
            <a:r>
              <a:t>5. 📩 Ativado!: Comprovante do direito ativado</a:t>
            </a:r>
          </a:p>
          <a:p>
            <a:br/>
            <a:pPr>
              <a:defRPr sz="1400"/>
            </a:pPr>
            <a:r>
              <a:t>6. 💳 Histórico: Carteira atualizada</a:t>
            </a:r>
          </a:p>
          <a:p>
            <a:br/>
            <a:pPr>
              <a:defRPr sz="1200" i="1"/>
            </a:pPr>
            <a:r>
              <a:t>🤝 Human-in-the-loop: validação humana em etapas críticas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POR QUE A CAIXA?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Parceiro Natural para Infraestrutura Nacional de Direitos</a:t>
            </a:r>
          </a:p>
          <a:p>
            <a:br/>
            <a:pPr>
              <a:defRPr sz="1600" b="1"/>
            </a:pPr>
            <a:r>
              <a:t>🏛️ Hub Histórico</a:t>
            </a:r>
          </a:p>
          <a:p>
            <a:pPr>
              <a:defRPr sz="1400"/>
            </a:pPr>
            <a:r>
              <a:t>Braço operacional de políticas sociais há décadas</a:t>
            </a:r>
          </a:p>
          <a:p>
            <a:br/>
            <a:pPr>
              <a:defRPr sz="1600" b="1"/>
            </a:pPr>
            <a:r>
              <a:t>🤝 Confiança Institucional</a:t>
            </a:r>
          </a:p>
          <a:p>
            <a:pPr>
              <a:defRPr sz="1400"/>
            </a:pPr>
            <a:r>
              <a:t>Grau de confiança que nenhum banco privado possui</a:t>
            </a:r>
          </a:p>
          <a:p>
            <a:br/>
            <a:pPr>
              <a:defRPr sz="1600" b="1"/>
            </a:pPr>
            <a:r>
              <a:t>🎯 Complementaridade</a:t>
            </a:r>
          </a:p>
          <a:p>
            <a:pPr>
              <a:defRPr sz="1400"/>
            </a:pPr>
            <a:r>
              <a:t>Não concorremos. Reforçamos o papel público da Caixa.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PARA A CAIXA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a Caixa Ganha</a:t>
            </a:r>
          </a:p>
          <a:p>
            <a:br/>
            <a:pPr>
              <a:defRPr sz="1400"/>
            </a:pPr>
            <a:r>
              <a:t>• 📉 Menos Filas: Cidadão orientado via WhatsApp = menos atendimento presencial</a:t>
            </a:r>
          </a:p>
          <a:p>
            <a:br/>
            <a:pPr>
              <a:defRPr sz="1400"/>
            </a:pPr>
            <a:r>
              <a:t>• 😊 Menos Reclamações: Direito ativado = menos frustração</a:t>
            </a:r>
          </a:p>
          <a:p>
            <a:br/>
            <a:pPr>
              <a:defRPr sz="1400"/>
            </a:pPr>
            <a:r>
              <a:t>• 📱 Caixa Tem Fortalecido: WhatsApp complementa o app</a:t>
            </a:r>
          </a:p>
          <a:p>
            <a:br/>
            <a:pPr>
              <a:defRPr sz="1400"/>
            </a:pPr>
            <a:r>
              <a:t>• 🏆 Protagonismo: Referência nacional em 'última milha' de direitos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Validação em Dois Cenários</a:t>
            </a:r>
          </a:p>
          <a:p>
            <a:br/>
            <a:pPr>
              <a:defRPr sz="1600" b="1"/>
            </a:pPr>
            <a:r>
              <a:t>🏙️ Cenário 1: Teste de Carga (Volume)</a:t>
            </a:r>
          </a:p>
          <a:p>
            <a:pPr>
              <a:defRPr sz="1400"/>
            </a:pPr>
            <a:r>
              <a:t>Região Metropolitana de São Paulo - validar robustez técnica</a:t>
            </a:r>
          </a:p>
          <a:p>
            <a:br/>
            <a:pPr>
              <a:defRPr sz="1600" b="1"/>
            </a:pPr>
            <a:r>
              <a:t>🌾 Cenário 2: Teste de Acesso (Vulnerabilidade)</a:t>
            </a:r>
          </a:p>
          <a:p>
            <a:pPr>
              <a:defRPr sz="1400"/>
            </a:pPr>
            <a:r>
              <a:t>Município estratégico no Nordeste - validar impacto social</a:t>
            </a:r>
          </a:p>
          <a:p>
            <a:br/>
            <a:pPr>
              <a:defRPr sz="1600" b="1">
                <a:solidFill>
                  <a:srgbClr val="FF6600"/>
                </a:solidFill>
              </a:defRPr>
            </a:pPr>
            <a:r>
              <a:t>📊 Escopo: 6-9 meses | ~60k famílias | TSEE + Farmácia + PIS/PASEP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Laboratório de Eficiência e Impacto</a:t>
            </a:r>
          </a:p>
          <a:p>
            <a:br/>
            <a:pPr>
              <a:defRPr sz="1400"/>
            </a:pPr>
            <a:r>
              <a:t>• 💰 Custo de Ativação: R$ por família (WhatsApp vs. agência)</a:t>
            </a:r>
          </a:p>
          <a:p>
            <a:br/>
            <a:pPr>
              <a:defRPr sz="1400"/>
            </a:pPr>
            <a:r>
              <a:t>• 📈 Valor Acessado: R$ em direitos efetivamente acessados</a:t>
            </a:r>
          </a:p>
          <a:p>
            <a:br/>
            <a:pPr>
              <a:defRPr sz="1400"/>
            </a:pPr>
            <a:r>
              <a:t>• ✅ Taxa de Conclusão: % elegíveis que completam jornada</a:t>
            </a:r>
          </a:p>
          <a:p>
            <a:br/>
            <a:pPr>
              <a:defRPr sz="1400"/>
            </a:pPr>
            <a:r>
              <a:t>• 📉 Redução de Filas: Δ atendimentos nas agências piloto</a:t>
            </a:r>
          </a:p>
          <a:p>
            <a:br/>
            <a:pPr>
              <a:defRPr sz="1600" b="1">
                <a:solidFill>
                  <a:srgbClr val="FF6600"/>
                </a:solidFill>
              </a:defRPr>
            </a:pPr>
            <a:r>
              <a:t>🎯 Potencial: R$ 2.000-4.000/ano por família elegível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QUE PRECISAMOS DA CAIXA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Parceria no Piloto</a:t>
            </a:r>
          </a:p>
          <a:p>
            <a:br/>
            <a:pPr>
              <a:defRPr sz="1400"/>
            </a:pPr>
            <a:r>
              <a:t>• 👥 Squad Conjunto: TEIA + Benefícios + Caixa Tem + Compliance</a:t>
            </a:r>
          </a:p>
          <a:p>
            <a:br/>
            <a:pPr>
              <a:defRPr sz="1400"/>
            </a:pPr>
            <a:r>
              <a:t>• 📊 Dados Agregados: Indicadores de impacto (sem dados individuais)</a:t>
            </a:r>
          </a:p>
          <a:p>
            <a:br/>
            <a:pPr>
              <a:defRPr sz="1400"/>
            </a:pPr>
            <a:r>
              <a:t>• 📣 Co-comunicação: Canal oficial verificado + Caixa Tem</a:t>
            </a:r>
          </a:p>
          <a:p>
            <a:br/>
            <a:pPr>
              <a:defRPr sz="1400"/>
            </a:pPr>
            <a:r>
              <a:t>• 🔒 Segurança &amp; Compliance: LGPD + auditoria + anti-golpes</a:t>
            </a:r>
          </a:p>
          <a:p>
            <a:br/>
            <a:pPr>
              <a:defRPr sz="1600" b="1">
                <a:solidFill>
                  <a:srgbClr val="FF0000"/>
                </a:solidFill>
              </a:defRPr>
            </a:pPr>
            <a:r>
              <a:t>⚠️ NUNCA pedimos senha Gov.br | NUNCA pedimos PIX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ENQUADRAMENTO: CPSI / ESPAÇO TEIA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Modelo de Inovação que a Caixa Já Utiliza</a:t>
            </a:r>
          </a:p>
          <a:p>
            <a:br/>
            <a:pPr>
              <a:defRPr sz="1400"/>
            </a:pPr>
            <a:r>
              <a:t>📋 Marco Legal: LC nº 182/2021 (Marco Legal das Startups)</a:t>
            </a:r>
          </a:p>
          <a:p>
            <a:br/>
            <a:pPr>
              <a:defRPr sz="1400"/>
            </a:pPr>
            <a:r>
              <a:t>💰 Envelope: até R$ 1,6 milhão</a:t>
            </a:r>
          </a:p>
          <a:p>
            <a:br/>
            <a:pPr>
              <a:defRPr sz="1400"/>
            </a:pPr>
            <a:r>
              <a:t>⏱️ Vigência: até 12 meses, prorrogável uma vez</a:t>
            </a:r>
          </a:p>
          <a:p>
            <a:br/>
            <a:pPr>
              <a:defRPr sz="1400">
                <a:solidFill>
                  <a:srgbClr val="FF6600"/>
                </a:solidFill>
              </a:defRPr>
            </a:pPr>
            <a:r>
              <a:t>🚀 Gatilho de Escala: Em caso de sucesso, contrato ampliado (3-5x)</a:t>
            </a:r>
          </a:p>
          <a:p>
            <a:br/>
            <a:pPr>
              <a:defRPr sz="1400"/>
            </a:pPr>
            <a:r>
              <a:t>🤝 Governança: Comitê conjunto com dashboards compartilhados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TRANSFORMAR DIREITO EM REALIDADE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 a Caixa no centro</a:t>
            </a:r>
          </a:p>
          <a:p>
            <a:br/>
            <a:pPr>
              <a:defRPr sz="1600"/>
            </a:pPr>
            <a:r>
              <a:t>O Brasil já criou os programas e garantiu os recursos.</a:t>
            </a:r>
          </a:p>
          <a:p>
            <a:br/>
            <a:pPr>
              <a:defRPr sz="1600"/>
            </a:pPr>
            <a:r>
              <a:t>O Tá na Mão propõe a infraestrutura de última milha que transforma burocracia em clique.</a:t>
            </a:r>
          </a:p>
          <a:p>
            <a:br/>
            <a:pPr algn="ctr">
              <a:defRPr sz="2400" b="1">
                <a:solidFill>
                  <a:srgbClr val="FF6600"/>
                </a:solidFill>
              </a:defRPr>
            </a:pPr>
            <a:r>
              <a:t>💰 ~R$ 50 bi esperando chegar na ponta.</a:t>
            </a:r>
          </a:p>
          <a:p>
            <a:br/>
            <a:pPr>
              <a:defRPr sz="1800" b="1"/>
            </a:pPr>
            <a:r>
              <a:t>🤝 Queremos construir isso junto com a Caixa.</a:t>
            </a:r>
          </a:p>
          <a:p>
            <a:br/>
            <a:pPr>
              <a:defRPr sz="1600" b="1"/>
            </a:pPr>
            <a:r>
              <a:t>🎯 PRÓXIMO PASSO:</a:t>
            </a:r>
          </a:p>
          <a:p>
            <a:pPr>
              <a:defRPr sz="1600"/>
            </a:pPr>
            <a:r>
              <a:t>Workshop de 2h com TEIA, Benefícios e Compliance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